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68" r:id="rId5"/>
    <p:sldId id="269" r:id="rId6"/>
    <p:sldId id="259" r:id="rId7"/>
    <p:sldId id="270" r:id="rId8"/>
    <p:sldId id="260" r:id="rId9"/>
    <p:sldId id="261" r:id="rId10"/>
    <p:sldId id="262" r:id="rId11"/>
    <p:sldId id="263" r:id="rId12"/>
    <p:sldId id="264" r:id="rId13"/>
    <p:sldId id="271" r:id="rId14"/>
    <p:sldId id="265" r:id="rId15"/>
    <p:sldId id="266" r:id="rId16"/>
    <p:sldId id="267" r:id="rId17"/>
  </p:sldIdLst>
  <p:sldSz cx="12192000" cy="6858000"/>
  <p:notesSz cx="6858000" cy="9144000"/>
  <p:embeddedFontLst>
    <p:embeddedFont>
      <p:font typeface="JetBrains Mono" panose="020B0604020202020204" charset="0"/>
      <p:regular r:id="rId19"/>
      <p:bold r:id="rId20"/>
      <p:italic r:id="rId21"/>
      <p:boldItalic r:id="rId22"/>
    </p:embeddedFont>
    <p:embeddedFont>
      <p:font typeface="Urbanist" panose="020B0604020202020204" charset="0"/>
      <p:regular r:id="rId23"/>
      <p:bold r:id="rId24"/>
      <p:italic r:id="rId25"/>
      <p:boldItalic r:id="rId26"/>
    </p:embeddedFont>
    <p:embeddedFont>
      <p:font typeface="Urbanist Light" panose="020B0604020202020204" charset="0"/>
      <p:regular r:id="rId27"/>
      <p:bold r:id="rId28"/>
      <p:italic r:id="rId29"/>
      <p:boldItalic r:id="rId30"/>
    </p:embeddedFont>
    <p:embeddedFont>
      <p:font typeface="Urbanist SemiBold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BDF8"/>
    <a:srgbClr val="1F30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7" d="100"/>
          <a:sy n="67" d="100"/>
        </p:scale>
        <p:origin x="547" y="2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5923E79C-46CF-3AAC-9F4F-26B807A35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>
            <a:extLst>
              <a:ext uri="{FF2B5EF4-FFF2-40B4-BE49-F238E27FC236}">
                <a16:creationId xmlns:a16="http://schemas.microsoft.com/office/drawing/2014/main" id="{A9704383-ED93-6B83-E905-486B681495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3:notes">
            <a:extLst>
              <a:ext uri="{FF2B5EF4-FFF2-40B4-BE49-F238E27FC236}">
                <a16:creationId xmlns:a16="http://schemas.microsoft.com/office/drawing/2014/main" id="{EEC9507D-B84D-8AFA-E202-9FC78A0DD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7419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2CCF56C7-0355-1659-D0B9-ADEEDCD5B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>
            <a:extLst>
              <a:ext uri="{FF2B5EF4-FFF2-40B4-BE49-F238E27FC236}">
                <a16:creationId xmlns:a16="http://schemas.microsoft.com/office/drawing/2014/main" id="{0351FB85-53FA-9F51-3E05-51D66C8D08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>
            <a:extLst>
              <a:ext uri="{FF2B5EF4-FFF2-40B4-BE49-F238E27FC236}">
                <a16:creationId xmlns:a16="http://schemas.microsoft.com/office/drawing/2014/main" id="{C014F449-A1B0-8850-293B-FA05B2C6CE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8096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17474F64-674E-FC72-B1E1-F54D0AAB2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>
            <a:extLst>
              <a:ext uri="{FF2B5EF4-FFF2-40B4-BE49-F238E27FC236}">
                <a16:creationId xmlns:a16="http://schemas.microsoft.com/office/drawing/2014/main" id="{3A32B7D0-8124-1C6C-CE03-1BFCD6A4CE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:notes">
            <a:extLst>
              <a:ext uri="{FF2B5EF4-FFF2-40B4-BE49-F238E27FC236}">
                <a16:creationId xmlns:a16="http://schemas.microsoft.com/office/drawing/2014/main" id="{66590BBF-EDC6-1091-6713-2023249215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1586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52067" y="2309961"/>
            <a:ext cx="7687866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Gestion de </a:t>
            </a:r>
            <a:r>
              <a:rPr lang="en-US" sz="5400" b="1" i="0" u="none" strike="noStrike" cap="none" dirty="0" err="1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Projets</a:t>
            </a:r>
            <a:r>
              <a:rPr lang="en-US" sz="5400" b="1" i="0" u="none" strike="noStrike" cap="none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Agile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Spring Boot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3309937" y="4008983"/>
            <a:ext cx="5572125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94A3B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Framework, Architecture,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Logique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Métier &amp;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Qualité</a:t>
            </a:r>
            <a:r>
              <a:rPr lang="en-US" sz="2100" b="0" i="0" u="none" strike="noStrike" cap="none" dirty="0">
                <a:solidFill>
                  <a:srgbClr val="94A3B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</a:t>
            </a:r>
            <a:r>
              <a:rPr lang="en-US" sz="2100" b="0" i="0" u="none" strike="noStrike" cap="none" dirty="0" err="1">
                <a:solidFill>
                  <a:srgbClr val="94A3B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Logicielle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5619749" y="5190886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309937" y="5411033"/>
            <a:ext cx="5572125" cy="100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Présenté</a:t>
            </a:r>
            <a:r>
              <a:rPr lang="en-US" sz="1350" b="0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 par BOUANANI Abderrahman &amp; NIRI Ayoub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Encadré</a:t>
            </a:r>
            <a:r>
              <a:rPr lang="en-US" sz="1350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 par Pr. </a:t>
            </a:r>
            <a:r>
              <a:rPr lang="en-US" sz="1350" dirty="0" err="1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Elyaakoubi</a:t>
            </a:r>
            <a:r>
              <a:rPr lang="en-US" sz="1350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 Mohamed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7375" y="1262211"/>
            <a:ext cx="857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A082015-DB34-B25F-5D04-A0C8FD0EE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37460"/>
            <a:ext cx="3886146" cy="10938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694875-8633-B3CC-DCC1-6C57D82199A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1792" y="437460"/>
            <a:ext cx="3112137" cy="10373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1737"/>
            <a:ext cx="2547937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471737"/>
            <a:ext cx="2547937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471737"/>
            <a:ext cx="2547937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2471737"/>
            <a:ext cx="2547937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1300162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Vue d'ensemble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1976437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66775" y="3414712"/>
            <a:ext cx="15501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Architecture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66775" y="3881437"/>
            <a:ext cx="195738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Structure Modulith et Entités de base (DRY).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3700462" y="3414712"/>
            <a:ext cx="126015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Domaines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3700462" y="3881437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Modèle de données, Sprints et couplage faible.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34150" y="3414712"/>
            <a:ext cx="2055256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Flux de Données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34150" y="4205287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DTOs (Records), Mappers et Logique Service.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367837" y="3414712"/>
            <a:ext cx="168021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Qualité &amp; API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367837" y="3881437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Tests unitaires (Mockito) et Sécurité CORS.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79558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00462" y="279558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34150" y="279558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367837" y="2795587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1357312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Structure du Package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2033587"/>
            <a:ext cx="4953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2147887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Approche Modulith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26146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projet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est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structuré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par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domaines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fonctionnels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Nous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nous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concentrons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sur le module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projectmanagement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0426" y="47291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18;p15">
            <a:extLst>
              <a:ext uri="{FF2B5EF4-FFF2-40B4-BE49-F238E27FC236}">
                <a16:creationId xmlns:a16="http://schemas.microsoft.com/office/drawing/2014/main" id="{6098F638-6A4B-06CA-825E-AA4B3FBEB30C}"/>
              </a:ext>
            </a:extLst>
          </p:cNvPr>
          <p:cNvSpPr txBox="1"/>
          <p:nvPr/>
        </p:nvSpPr>
        <p:spPr>
          <a:xfrm>
            <a:off x="571500" y="637466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Structure du Package</a:t>
            </a:r>
            <a:endParaRPr/>
          </a:p>
        </p:txBody>
      </p:sp>
      <p:sp>
        <p:nvSpPr>
          <p:cNvPr id="7" name="Google Shape;119;p15">
            <a:extLst>
              <a:ext uri="{FF2B5EF4-FFF2-40B4-BE49-F238E27FC236}">
                <a16:creationId xmlns:a16="http://schemas.microsoft.com/office/drawing/2014/main" id="{385A74BC-68A7-3626-2365-7780773C1984}"/>
              </a:ext>
            </a:extLst>
          </p:cNvPr>
          <p:cNvSpPr/>
          <p:nvPr/>
        </p:nvSpPr>
        <p:spPr>
          <a:xfrm>
            <a:off x="571500" y="1313741"/>
            <a:ext cx="4953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20;p15">
            <a:extLst>
              <a:ext uri="{FF2B5EF4-FFF2-40B4-BE49-F238E27FC236}">
                <a16:creationId xmlns:a16="http://schemas.microsoft.com/office/drawing/2014/main" id="{98950250-6DA3-9176-568B-80F1627DE28D}"/>
              </a:ext>
            </a:extLst>
          </p:cNvPr>
          <p:cNvSpPr txBox="1"/>
          <p:nvPr/>
        </p:nvSpPr>
        <p:spPr>
          <a:xfrm>
            <a:off x="571500" y="1428041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Approche</a:t>
            </a:r>
            <a:r>
              <a:rPr lang="en-US" sz="2100" b="0" i="0" u="none" strike="noStrike" cap="none" dirty="0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</a:t>
            </a:r>
            <a:r>
              <a:rPr lang="en-US" sz="2100" b="0" i="0" u="none" strike="noStrike" cap="none" dirty="0" err="1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Modulith</a:t>
            </a: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D921C0-365D-D280-C1E9-B2431975ED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70"/>
          <a:stretch>
            <a:fillRect/>
          </a:stretch>
        </p:blipFill>
        <p:spPr>
          <a:xfrm>
            <a:off x="4803093" y="1504241"/>
            <a:ext cx="5701875" cy="4873496"/>
          </a:xfrm>
          <a:prstGeom prst="rect">
            <a:avLst/>
          </a:prstGeom>
        </p:spPr>
      </p:pic>
      <p:sp>
        <p:nvSpPr>
          <p:cNvPr id="122" name="Google Shape;122;p15"/>
          <p:cNvSpPr txBox="1"/>
          <p:nvPr/>
        </p:nvSpPr>
        <p:spPr>
          <a:xfrm>
            <a:off x="571500" y="2463661"/>
            <a:ext cx="339444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Cette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approche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regroupe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toutes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les classes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liées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aux Sprints et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Tâches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un seul lieu,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facilitant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la maintenance et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l'isolation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74">
          <a:extLst>
            <a:ext uri="{FF2B5EF4-FFF2-40B4-BE49-F238E27FC236}">
              <a16:creationId xmlns:a16="http://schemas.microsoft.com/office/drawing/2014/main" id="{D40CA5AE-09CA-04F6-BAA5-56135ED63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18;p15">
            <a:extLst>
              <a:ext uri="{FF2B5EF4-FFF2-40B4-BE49-F238E27FC236}">
                <a16:creationId xmlns:a16="http://schemas.microsoft.com/office/drawing/2014/main" id="{B3AE7EDA-674B-ED3D-4181-3822CC9F62B5}"/>
              </a:ext>
            </a:extLst>
          </p:cNvPr>
          <p:cNvSpPr txBox="1"/>
          <p:nvPr/>
        </p:nvSpPr>
        <p:spPr>
          <a:xfrm>
            <a:off x="571500" y="637466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Structure du Package</a:t>
            </a:r>
            <a:endParaRPr/>
          </a:p>
        </p:txBody>
      </p:sp>
      <p:sp>
        <p:nvSpPr>
          <p:cNvPr id="7" name="Google Shape;119;p15">
            <a:extLst>
              <a:ext uri="{FF2B5EF4-FFF2-40B4-BE49-F238E27FC236}">
                <a16:creationId xmlns:a16="http://schemas.microsoft.com/office/drawing/2014/main" id="{C9F13F2B-D75D-8D97-02C2-A9739C2B08AE}"/>
              </a:ext>
            </a:extLst>
          </p:cNvPr>
          <p:cNvSpPr/>
          <p:nvPr/>
        </p:nvSpPr>
        <p:spPr>
          <a:xfrm>
            <a:off x="571500" y="1313741"/>
            <a:ext cx="4953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20;p15">
            <a:extLst>
              <a:ext uri="{FF2B5EF4-FFF2-40B4-BE49-F238E27FC236}">
                <a16:creationId xmlns:a16="http://schemas.microsoft.com/office/drawing/2014/main" id="{D5DEA331-C91B-85B6-9C95-F909B8A09C55}"/>
              </a:ext>
            </a:extLst>
          </p:cNvPr>
          <p:cNvSpPr txBox="1"/>
          <p:nvPr/>
        </p:nvSpPr>
        <p:spPr>
          <a:xfrm>
            <a:off x="571500" y="1428041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</a:t>
            </a:r>
            <a:r>
              <a:rPr lang="en-US" sz="2100" b="0" i="0" u="none" strike="noStrike" cap="none" dirty="0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nvironnement </a:t>
            </a:r>
            <a:r>
              <a:rPr lang="en-US" sz="2100" b="0" i="0" u="none" strike="noStrike" cap="none" dirty="0" err="1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d'exécution</a:t>
            </a:r>
            <a:endParaRPr dirty="0"/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4117BDE7-99D4-CD27-D040-ACFFA45A65E9}"/>
              </a:ext>
            </a:extLst>
          </p:cNvPr>
          <p:cNvSpPr txBox="1"/>
          <p:nvPr/>
        </p:nvSpPr>
        <p:spPr>
          <a:xfrm>
            <a:off x="571499" y="2530845"/>
            <a:ext cx="272459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fr-FR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Déploiement optimisé via Docker.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53BEC5-87D3-213E-EADE-79BCE14B340E}"/>
              </a:ext>
            </a:extLst>
          </p:cNvPr>
          <p:cNvGrpSpPr>
            <a:grpSpLocks noChangeAspect="1"/>
          </p:cNvGrpSpPr>
          <p:nvPr/>
        </p:nvGrpSpPr>
        <p:grpSpPr>
          <a:xfrm>
            <a:off x="3493921" y="2037641"/>
            <a:ext cx="8301985" cy="4373393"/>
            <a:chOff x="2243244" y="1481037"/>
            <a:chExt cx="8055492" cy="424354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55FB5DE-D01F-B810-DF0F-95689179B8DC}"/>
                </a:ext>
              </a:extLst>
            </p:cNvPr>
            <p:cNvSpPr/>
            <p:nvPr/>
          </p:nvSpPr>
          <p:spPr>
            <a:xfrm>
              <a:off x="2243244" y="1481037"/>
              <a:ext cx="8055492" cy="4243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EAE7FCF-BECE-23EF-740E-A8A9DDB62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68722" y="1504241"/>
              <a:ext cx="8027550" cy="4175870"/>
            </a:xfrm>
            <a:prstGeom prst="rect">
              <a:avLst/>
            </a:prstGeom>
          </p:spPr>
        </p:pic>
      </p:grpSp>
      <p:sp>
        <p:nvSpPr>
          <p:cNvPr id="11" name="Google Shape;122;p15">
            <a:extLst>
              <a:ext uri="{FF2B5EF4-FFF2-40B4-BE49-F238E27FC236}">
                <a16:creationId xmlns:a16="http://schemas.microsoft.com/office/drawing/2014/main" id="{C2063244-2094-40A3-99D5-EC03E77EA992}"/>
              </a:ext>
            </a:extLst>
          </p:cNvPr>
          <p:cNvSpPr txBox="1"/>
          <p:nvPr/>
        </p:nvSpPr>
        <p:spPr>
          <a:xfrm>
            <a:off x="571499" y="3793140"/>
            <a:ext cx="272459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fr-FR" sz="15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Une architecture conteneurisée garantissant portabilité et isolation des services.</a:t>
            </a:r>
            <a:endParaRPr lang="fr-FR" sz="1500" b="0" i="0" u="none" strike="noStrike" cap="none" dirty="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  <p:extLst>
      <p:ext uri="{BB962C8B-B14F-4D97-AF65-F5344CB8AC3E}">
        <p14:creationId xmlns:p14="http://schemas.microsoft.com/office/powerpoint/2010/main" val="1882120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3810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L'Entité de Base (BaseEntity)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2085975"/>
            <a:ext cx="59407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Principe DRY (Don't Repeat Yourself)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2552700"/>
            <a:ext cx="5657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Toutes les entités héritent de BaseEntity. Cela centralise la gestion des champs techniques répétitifs.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57250" y="3457575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ID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Gestion centralisée de l'identifiant unique.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57250" y="3905250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Dates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dateCreation et dateModification.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57250" y="4352925"/>
            <a:ext cx="5372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Auditing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Utilisation de @EntityListeners(AuditingEntityListener.class) pour l'automatisation via Spring Data JPA.</a:t>
            </a:r>
            <a:endParaRPr/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766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24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71975"/>
            <a:ext cx="190500" cy="200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1A3F23F-E692-41A3-0226-8A6B56765596}"/>
              </a:ext>
            </a:extLst>
          </p:cNvPr>
          <p:cNvGrpSpPr>
            <a:grpSpLocks noChangeAspect="1"/>
          </p:cNvGrpSpPr>
          <p:nvPr/>
        </p:nvGrpSpPr>
        <p:grpSpPr>
          <a:xfrm>
            <a:off x="6382280" y="1578044"/>
            <a:ext cx="5372100" cy="4913935"/>
            <a:chOff x="6324600" y="1498324"/>
            <a:chExt cx="4807226" cy="4397237"/>
          </a:xfrm>
        </p:grpSpPr>
        <p:pic>
          <p:nvPicPr>
            <p:cNvPr id="130" name="Google Shape;130;p16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24600" y="1498324"/>
              <a:ext cx="4807226" cy="439723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7754722-8378-D474-5D38-DB77B31D634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512242" y="1669255"/>
              <a:ext cx="4422891" cy="4014789"/>
              <a:chOff x="2667000" y="0"/>
              <a:chExt cx="6858000" cy="6225209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A2734A11-5843-0B1E-3927-F4A22C8505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b="9227"/>
              <a:stretch>
                <a:fillRect/>
              </a:stretch>
            </p:blipFill>
            <p:spPr>
              <a:xfrm>
                <a:off x="2667000" y="0"/>
                <a:ext cx="6858000" cy="6225209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C9AF35C-45DD-EEB6-4098-2E7200EDFB6D}"/>
                  </a:ext>
                </a:extLst>
              </p:cNvPr>
              <p:cNvSpPr/>
              <p:nvPr/>
            </p:nvSpPr>
            <p:spPr>
              <a:xfrm>
                <a:off x="7285383" y="381000"/>
                <a:ext cx="1987826" cy="5048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8">
          <a:extLst>
            <a:ext uri="{FF2B5EF4-FFF2-40B4-BE49-F238E27FC236}">
              <a16:creationId xmlns:a16="http://schemas.microsoft.com/office/drawing/2014/main" id="{4495EA1F-7E58-8FFB-4802-BC613B85B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>
            <a:extLst>
              <a:ext uri="{FF2B5EF4-FFF2-40B4-BE49-F238E27FC236}">
                <a16:creationId xmlns:a16="http://schemas.microsoft.com/office/drawing/2014/main" id="{388A06D4-4021-5A13-DB64-69E113E60C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19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628B4AF5-DAEB-13AF-C597-2F66110BC76B}"/>
              </a:ext>
            </a:extLst>
          </p:cNvPr>
          <p:cNvSpPr txBox="1"/>
          <p:nvPr/>
        </p:nvSpPr>
        <p:spPr>
          <a:xfrm>
            <a:off x="571500" y="3810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L'Entité de Base (BaseEntity)</a:t>
            </a:r>
            <a:endParaRPr/>
          </a:p>
        </p:txBody>
      </p:sp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CD4EECDB-556F-AC06-403D-4C4910879216}"/>
              </a:ext>
            </a:extLst>
          </p:cNvPr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>
            <a:extLst>
              <a:ext uri="{FF2B5EF4-FFF2-40B4-BE49-F238E27FC236}">
                <a16:creationId xmlns:a16="http://schemas.microsoft.com/office/drawing/2014/main" id="{312B4322-325B-C12A-0CA1-3483889CB48E}"/>
              </a:ext>
            </a:extLst>
          </p:cNvPr>
          <p:cNvSpPr txBox="1"/>
          <p:nvPr/>
        </p:nvSpPr>
        <p:spPr>
          <a:xfrm>
            <a:off x="571500" y="2085975"/>
            <a:ext cx="594074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Principe DRY (Don't Repeat Yourself)</a:t>
            </a:r>
            <a:endParaRPr/>
          </a:p>
        </p:txBody>
      </p:sp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1E274027-6A6C-D9EF-5AF9-B39FF4E59892}"/>
              </a:ext>
            </a:extLst>
          </p:cNvPr>
          <p:cNvSpPr txBox="1"/>
          <p:nvPr/>
        </p:nvSpPr>
        <p:spPr>
          <a:xfrm>
            <a:off x="571500" y="2552700"/>
            <a:ext cx="5657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Toutes les entités héritent de BaseEntity. Cela centralise la gestion des champs techniques répétitifs.</a:t>
            </a:r>
            <a:endParaRPr/>
          </a:p>
        </p:txBody>
      </p:sp>
      <p:sp>
        <p:nvSpPr>
          <p:cNvPr id="135" name="Google Shape;135;p16">
            <a:extLst>
              <a:ext uri="{FF2B5EF4-FFF2-40B4-BE49-F238E27FC236}">
                <a16:creationId xmlns:a16="http://schemas.microsoft.com/office/drawing/2014/main" id="{4623E181-7006-A8CD-0145-CE9C579CF03F}"/>
              </a:ext>
            </a:extLst>
          </p:cNvPr>
          <p:cNvSpPr txBox="1"/>
          <p:nvPr/>
        </p:nvSpPr>
        <p:spPr>
          <a:xfrm>
            <a:off x="857250" y="3457575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ID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Gestion centralisée de l'identifiant unique.</a:t>
            </a:r>
            <a:endParaRPr/>
          </a:p>
        </p:txBody>
      </p:sp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395D8570-B1B1-4AA6-2C88-642AAB377B86}"/>
              </a:ext>
            </a:extLst>
          </p:cNvPr>
          <p:cNvSpPr txBox="1"/>
          <p:nvPr/>
        </p:nvSpPr>
        <p:spPr>
          <a:xfrm>
            <a:off x="857250" y="3905250"/>
            <a:ext cx="5372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Dates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dateCreation et dateModification.</a:t>
            </a:r>
            <a:endParaRPr/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E49EB0EC-D9A3-60EA-3B88-BD8CFE040128}"/>
              </a:ext>
            </a:extLst>
          </p:cNvPr>
          <p:cNvSpPr txBox="1"/>
          <p:nvPr/>
        </p:nvSpPr>
        <p:spPr>
          <a:xfrm>
            <a:off x="857250" y="4352925"/>
            <a:ext cx="5372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Auditing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Utilisation de @EntityListeners(AuditingEntityListener.class) pour l'automatisation via Spring Data JPA.</a:t>
            </a:r>
            <a:endParaRPr/>
          </a:p>
        </p:txBody>
      </p:sp>
      <p:pic>
        <p:nvPicPr>
          <p:cNvPr id="139" name="Google Shape;139;p16" descr="image.png">
            <a:extLst>
              <a:ext uri="{FF2B5EF4-FFF2-40B4-BE49-F238E27FC236}">
                <a16:creationId xmlns:a16="http://schemas.microsoft.com/office/drawing/2014/main" id="{83A70C16-239A-2DAE-50EC-83ADC794978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766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>
            <a:extLst>
              <a:ext uri="{FF2B5EF4-FFF2-40B4-BE49-F238E27FC236}">
                <a16:creationId xmlns:a16="http://schemas.microsoft.com/office/drawing/2014/main" id="{787116C3-DF3C-5AA4-9FBE-073FEFD6FD7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24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>
            <a:extLst>
              <a:ext uri="{FF2B5EF4-FFF2-40B4-BE49-F238E27FC236}">
                <a16:creationId xmlns:a16="http://schemas.microsoft.com/office/drawing/2014/main" id="{0C0ECC2C-6248-8405-9E2F-74862C32F6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71975"/>
            <a:ext cx="190500" cy="200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42A2B01-C439-AD7B-E6F8-BE877F10762B}"/>
              </a:ext>
            </a:extLst>
          </p:cNvPr>
          <p:cNvGrpSpPr>
            <a:grpSpLocks noChangeAspect="1"/>
          </p:cNvGrpSpPr>
          <p:nvPr/>
        </p:nvGrpSpPr>
        <p:grpSpPr>
          <a:xfrm>
            <a:off x="6324600" y="1884427"/>
            <a:ext cx="5538216" cy="4101846"/>
            <a:chOff x="6324600" y="1884427"/>
            <a:chExt cx="5538216" cy="4101846"/>
          </a:xfrm>
        </p:grpSpPr>
        <p:pic>
          <p:nvPicPr>
            <p:cNvPr id="130" name="Google Shape;130;p16" descr="image.png">
              <a:extLst>
                <a:ext uri="{FF2B5EF4-FFF2-40B4-BE49-F238E27FC236}">
                  <a16:creationId xmlns:a16="http://schemas.microsoft.com/office/drawing/2014/main" id="{31321594-87F1-997F-1D47-2CFD7C7D9302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24600" y="1884427"/>
              <a:ext cx="5538216" cy="41018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4F50564-8678-88CE-0615-03E11F9B2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07514" y="2012005"/>
              <a:ext cx="5310522" cy="38245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4925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447157"/>
            <a:ext cx="5238750" cy="86856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71500" y="3810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Gestion du Backlog de Sprint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6381750" y="2132707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Relations &amp; Robustesse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381750" y="259943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 fichier SprintBacklog.java illustre une relation stricte @OneToOne : un Sprint possède un et un seul Backlog.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381750" y="445859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Secret Technique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L'utilisation de @Builder.Default avec Lombok garantit que la liste des tâches n'est jamais nulle, évitant les NullPointerException.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610350" y="3637657"/>
            <a:ext cx="48196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6EFA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@Builder.Default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86EFA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private List tasks = new ArrayList&lt;&gt;();</a:t>
            </a:r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36E05EC-AEA9-5618-FE52-23E0CCA513F3}"/>
              </a:ext>
            </a:extLst>
          </p:cNvPr>
          <p:cNvGrpSpPr>
            <a:grpSpLocks noChangeAspect="1"/>
          </p:cNvGrpSpPr>
          <p:nvPr/>
        </p:nvGrpSpPr>
        <p:grpSpPr>
          <a:xfrm>
            <a:off x="571500" y="1681162"/>
            <a:ext cx="5238750" cy="4286250"/>
            <a:chOff x="571500" y="1681162"/>
            <a:chExt cx="5238750" cy="4286250"/>
          </a:xfrm>
        </p:grpSpPr>
        <p:pic>
          <p:nvPicPr>
            <p:cNvPr id="147" name="Google Shape;147;p17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71500" y="1681162"/>
              <a:ext cx="5238750" cy="4286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05E15E5-7E13-911F-D267-FCC1654F0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37138"/>
            <a:stretch>
              <a:fillRect/>
            </a:stretch>
          </p:blipFill>
          <p:spPr>
            <a:xfrm>
              <a:off x="786384" y="1842419"/>
              <a:ext cx="4886208" cy="399488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54484"/>
            <a:ext cx="11049000" cy="4939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29125" y="3505051"/>
            <a:ext cx="3333750" cy="150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563909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Relation Inter-Domaines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71500" y="1240184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1152525" y="1935509"/>
            <a:ext cx="9886950" cy="1440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0F9F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"Au lieu </a:t>
            </a:r>
            <a:r>
              <a:rPr lang="en-US" sz="3600" b="0" i="0" u="none" strike="noStrike" cap="none" dirty="0" err="1">
                <a:solidFill>
                  <a:srgbClr val="F0F9F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d'une</a:t>
            </a:r>
            <a:r>
              <a:rPr lang="en-US" sz="3600" b="0" i="0" u="none" strike="noStrike" cap="none" dirty="0">
                <a:solidFill>
                  <a:srgbClr val="F0F9F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relation </a:t>
            </a:r>
            <a:r>
              <a:rPr lang="en-US" sz="3600" b="0" i="0" u="none" strike="noStrike" cap="none" dirty="0" err="1">
                <a:solidFill>
                  <a:srgbClr val="F0F9F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lourde</a:t>
            </a:r>
            <a:r>
              <a:rPr lang="en-US" sz="3600" b="0" i="0" u="none" strike="noStrike" cap="none" dirty="0">
                <a:solidFill>
                  <a:srgbClr val="F0F9F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</a:t>
            </a:r>
            <a:r>
              <a:rPr lang="en-US" sz="3600" b="1" i="0" u="none" strike="noStrike" cap="none" dirty="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@ManyToOne</a:t>
            </a:r>
            <a:r>
              <a:rPr lang="en-US" sz="3600" b="0" i="0" u="none" strike="noStrike" cap="none" dirty="0">
                <a:solidFill>
                  <a:srgbClr val="F0F9F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vers </a:t>
            </a:r>
            <a:r>
              <a:rPr lang="en-US" sz="3600" b="0" i="0" u="none" strike="noStrike" cap="none" dirty="0" err="1">
                <a:solidFill>
                  <a:srgbClr val="F0F9F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l'entité</a:t>
            </a:r>
            <a:r>
              <a:rPr lang="en-US" sz="3600" b="0" i="0" u="none" strike="noStrike" cap="none" dirty="0">
                <a:solidFill>
                  <a:srgbClr val="F0F9F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</a:t>
            </a:r>
            <a:r>
              <a:rPr lang="en-US" sz="3600" b="0" i="0" u="none" strike="noStrike" cap="none" dirty="0" err="1">
                <a:solidFill>
                  <a:srgbClr val="F0F9F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Projet</a:t>
            </a:r>
            <a:r>
              <a:rPr lang="en-US" sz="3600" b="0" i="0" u="none" strike="noStrike" cap="none" dirty="0">
                <a:solidFill>
                  <a:srgbClr val="F0F9F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, </a:t>
            </a:r>
            <a:r>
              <a:rPr lang="en-US" sz="3600" dirty="0">
                <a:solidFill>
                  <a:srgbClr val="F0F9F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on </a:t>
            </a:r>
            <a:r>
              <a:rPr lang="en-US" sz="3600" b="0" i="0" u="none" strike="noStrike" cap="none" dirty="0" err="1">
                <a:solidFill>
                  <a:srgbClr val="F0F9F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utilise</a:t>
            </a:r>
            <a:r>
              <a:rPr lang="en-US" sz="3600" b="0" i="0" u="none" strike="noStrike" cap="none" dirty="0">
                <a:solidFill>
                  <a:srgbClr val="F0F9F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un simple ID."</a:t>
            </a:r>
            <a:endParaRPr dirty="0"/>
          </a:p>
        </p:txBody>
      </p:sp>
      <p:sp>
        <p:nvSpPr>
          <p:cNvPr id="166" name="Google Shape;166;p18"/>
          <p:cNvSpPr txBox="1"/>
          <p:nvPr/>
        </p:nvSpPr>
        <p:spPr>
          <a:xfrm>
            <a:off x="1152525" y="5295751"/>
            <a:ext cx="9886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Cela évite de charger tout l'arbre d'objets du module Projet dans le contexte de gestion, optimisant ainsi les performances.</a:t>
            </a:r>
            <a:endParaRPr/>
          </a:p>
        </p:txBody>
      </p:sp>
      <p:pic>
        <p:nvPicPr>
          <p:cNvPr id="167" name="Google Shape;16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539859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4655820" y="3800326"/>
            <a:ext cx="28803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private Long projectId;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4724400" y="4267051"/>
            <a:ext cx="2628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Couplage Faible (Low Coupling)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85962"/>
            <a:ext cx="3492400" cy="367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985962"/>
            <a:ext cx="3492549" cy="367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1985962"/>
            <a:ext cx="3492400" cy="367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1195387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Flux de Données : DTOs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71500" y="1871662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866775" y="2928937"/>
            <a:ext cx="168021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Java Records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66775" y="3395662"/>
            <a:ext cx="29018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Utilisation des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Records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(Java 14+) pour SprintRequestDTO. Ils sont immuables par défaut, parfaits pour le transfert de données sécurisé.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4644925" y="2928937"/>
            <a:ext cx="101012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Fail Fast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4644925" y="3395662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Validation immédiate avec @NotBlank et @FutureOrPresent. L'API rejette les données invalides avant même d'atteindre la couche service.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423225" y="2928937"/>
            <a:ext cx="166020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Performance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8423225" y="3395662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 rejetant les erreurs tôt (400 Bad Request), on économise des ressources serveur et des appels inutiles à la base de données.</a:t>
            </a:r>
            <a:endParaRPr/>
          </a:p>
        </p:txBody>
      </p:sp>
      <p:pic>
        <p:nvPicPr>
          <p:cNvPr id="186" name="Google Shape;18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309812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4925" y="23098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3225" y="2309812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33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/>
          <p:nvPr/>
        </p:nvSpPr>
        <p:spPr>
          <a:xfrm>
            <a:off x="571500" y="4219575"/>
            <a:ext cx="11049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43237"/>
            <a:ext cx="309369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49080" y="3043237"/>
            <a:ext cx="309369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26660" y="3043237"/>
            <a:ext cx="3093690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571500" y="1042987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Logique Métier : SprintService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71500" y="1719262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71500" y="1833562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 processus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création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d'un sprint (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createSprint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) suit un flux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transactionnel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strict.</a:t>
            </a:r>
            <a:endParaRPr dirty="0"/>
          </a:p>
        </p:txBody>
      </p:sp>
      <p:sp>
        <p:nvSpPr>
          <p:cNvPr id="204" name="Google Shape;204;p20"/>
          <p:cNvSpPr txBox="1"/>
          <p:nvPr/>
        </p:nvSpPr>
        <p:spPr>
          <a:xfrm>
            <a:off x="714185" y="3395662"/>
            <a:ext cx="280831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Mapping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781050" y="3862387"/>
            <a:ext cx="267459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 DTO est converti en entité interne. Les données externes sont assainies.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4691765" y="3395662"/>
            <a:ext cx="280831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Règle Métier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4758630" y="3862387"/>
            <a:ext cx="267459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Création automatique d'un SprintBacklog vide et liaison immédiate avec le nouveau Sprint.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8669346" y="3395662"/>
            <a:ext cx="280831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Persistance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8736210" y="3862387"/>
            <a:ext cx="267459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Sauvegarde via CascadeType.ALL. Le sprint et son backlog sont committés en une seule transaction.</a:t>
            </a:r>
            <a:endParaRPr/>
          </a:p>
        </p:txBody>
      </p:sp>
      <p:pic>
        <p:nvPicPr>
          <p:cNvPr id="194" name="Google Shape;19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27770" y="28717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351" y="28717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882931" y="2871787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248275"/>
            <a:ext cx="49530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571500" y="1028700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Tests Unitaires</a:t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571500" y="1704975"/>
            <a:ext cx="4953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571500" y="1819275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Certifié Conforme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571500" y="22860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 service SprintServiceTest valide la logique isolément.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857250" y="3190875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Mockito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Simulation du comportement du Repository pour ne pas dépendre de la base de données réelle.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57250" y="3943350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Vérification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On s'assure que le sprint est sauvegardé ET que le backlog a bien été rattaché automatiquement.</a:t>
            </a:r>
            <a:endParaRPr/>
          </a:p>
        </p:txBody>
      </p:sp>
      <p:pic>
        <p:nvPicPr>
          <p:cNvPr id="222" name="Google Shape;22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5325" y="546258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2099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624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3">
          <a:extLst>
            <a:ext uri="{FF2B5EF4-FFF2-40B4-BE49-F238E27FC236}">
              <a16:creationId xmlns:a16="http://schemas.microsoft.com/office/drawing/2014/main" id="{63C9E021-1492-32CB-B19A-E1592B8DB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1" descr="image.png">
            <a:extLst>
              <a:ext uri="{FF2B5EF4-FFF2-40B4-BE49-F238E27FC236}">
                <a16:creationId xmlns:a16="http://schemas.microsoft.com/office/drawing/2014/main" id="{24DF43AA-1888-8DD1-E4DD-D709953001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>
            <a:extLst>
              <a:ext uri="{FF2B5EF4-FFF2-40B4-BE49-F238E27FC236}">
                <a16:creationId xmlns:a16="http://schemas.microsoft.com/office/drawing/2014/main" id="{04C4D71C-9769-6F16-DCAB-99771849D9A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248275"/>
            <a:ext cx="49530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>
            <a:extLst>
              <a:ext uri="{FF2B5EF4-FFF2-40B4-BE49-F238E27FC236}">
                <a16:creationId xmlns:a16="http://schemas.microsoft.com/office/drawing/2014/main" id="{005BA78B-1664-8551-A263-24131DA0972D}"/>
              </a:ext>
            </a:extLst>
          </p:cNvPr>
          <p:cNvSpPr txBox="1"/>
          <p:nvPr/>
        </p:nvSpPr>
        <p:spPr>
          <a:xfrm>
            <a:off x="571500" y="1028700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Tests Unitaires</a:t>
            </a:r>
            <a:endParaRPr/>
          </a:p>
        </p:txBody>
      </p:sp>
      <p:sp>
        <p:nvSpPr>
          <p:cNvPr id="217" name="Google Shape;217;p21">
            <a:extLst>
              <a:ext uri="{FF2B5EF4-FFF2-40B4-BE49-F238E27FC236}">
                <a16:creationId xmlns:a16="http://schemas.microsoft.com/office/drawing/2014/main" id="{75D9347F-E491-50ED-9B80-9F542A997356}"/>
              </a:ext>
            </a:extLst>
          </p:cNvPr>
          <p:cNvSpPr/>
          <p:nvPr/>
        </p:nvSpPr>
        <p:spPr>
          <a:xfrm>
            <a:off x="571500" y="1704975"/>
            <a:ext cx="4953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>
            <a:extLst>
              <a:ext uri="{FF2B5EF4-FFF2-40B4-BE49-F238E27FC236}">
                <a16:creationId xmlns:a16="http://schemas.microsoft.com/office/drawing/2014/main" id="{4FCEBC5F-6D21-576A-6E4A-088AF6A83322}"/>
              </a:ext>
            </a:extLst>
          </p:cNvPr>
          <p:cNvSpPr txBox="1"/>
          <p:nvPr/>
        </p:nvSpPr>
        <p:spPr>
          <a:xfrm>
            <a:off x="571500" y="1819275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Certifié Conforme</a:t>
            </a:r>
            <a:endParaRPr/>
          </a:p>
        </p:txBody>
      </p:sp>
      <p:sp>
        <p:nvSpPr>
          <p:cNvPr id="219" name="Google Shape;219;p21">
            <a:extLst>
              <a:ext uri="{FF2B5EF4-FFF2-40B4-BE49-F238E27FC236}">
                <a16:creationId xmlns:a16="http://schemas.microsoft.com/office/drawing/2014/main" id="{B9F54333-D5B7-F88C-BBB1-E45455B6700A}"/>
              </a:ext>
            </a:extLst>
          </p:cNvPr>
          <p:cNvSpPr txBox="1"/>
          <p:nvPr/>
        </p:nvSpPr>
        <p:spPr>
          <a:xfrm>
            <a:off x="571500" y="22860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 service SprintServiceTest valide la logique isolément.</a:t>
            </a:r>
            <a:endParaRPr/>
          </a:p>
        </p:txBody>
      </p:sp>
      <p:sp>
        <p:nvSpPr>
          <p:cNvPr id="220" name="Google Shape;220;p21">
            <a:extLst>
              <a:ext uri="{FF2B5EF4-FFF2-40B4-BE49-F238E27FC236}">
                <a16:creationId xmlns:a16="http://schemas.microsoft.com/office/drawing/2014/main" id="{F78C989A-7579-E360-4B21-A75723D32646}"/>
              </a:ext>
            </a:extLst>
          </p:cNvPr>
          <p:cNvSpPr txBox="1"/>
          <p:nvPr/>
        </p:nvSpPr>
        <p:spPr>
          <a:xfrm>
            <a:off x="857250" y="3190875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Mockito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Simulation du comportement du Repository pour ne pas dépendre de la base de données réelle.</a:t>
            </a:r>
            <a:endParaRPr/>
          </a:p>
        </p:txBody>
      </p:sp>
      <p:sp>
        <p:nvSpPr>
          <p:cNvPr id="221" name="Google Shape;221;p21">
            <a:extLst>
              <a:ext uri="{FF2B5EF4-FFF2-40B4-BE49-F238E27FC236}">
                <a16:creationId xmlns:a16="http://schemas.microsoft.com/office/drawing/2014/main" id="{E7730179-9D45-F9A3-7EB8-2389536B7559}"/>
              </a:ext>
            </a:extLst>
          </p:cNvPr>
          <p:cNvSpPr txBox="1"/>
          <p:nvPr/>
        </p:nvSpPr>
        <p:spPr>
          <a:xfrm>
            <a:off x="857250" y="3943350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Vérification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On s'assure que le sprint est sauvegardé ET que le backlog a bien été rattaché automatiquement.</a:t>
            </a:r>
            <a:endParaRPr/>
          </a:p>
        </p:txBody>
      </p:sp>
      <p:pic>
        <p:nvPicPr>
          <p:cNvPr id="222" name="Google Shape;222;p21" descr="image.png">
            <a:extLst>
              <a:ext uri="{FF2B5EF4-FFF2-40B4-BE49-F238E27FC236}">
                <a16:creationId xmlns:a16="http://schemas.microsoft.com/office/drawing/2014/main" id="{2A5E7580-FB32-0B79-43A0-83B0E84D832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5325" y="546258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>
            <a:extLst>
              <a:ext uri="{FF2B5EF4-FFF2-40B4-BE49-F238E27FC236}">
                <a16:creationId xmlns:a16="http://schemas.microsoft.com/office/drawing/2014/main" id="{6035F018-ECBA-CCA6-6A7B-B9DF8CE73A9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099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>
            <a:extLst>
              <a:ext uri="{FF2B5EF4-FFF2-40B4-BE49-F238E27FC236}">
                <a16:creationId xmlns:a16="http://schemas.microsoft.com/office/drawing/2014/main" id="{FABDFAA9-DCAF-A24C-D729-36932579D28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624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D7D54C-92FF-654A-3113-9D54CEEF474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355" r="8011"/>
          <a:stretch>
            <a:fillRect/>
          </a:stretch>
        </p:blipFill>
        <p:spPr>
          <a:xfrm>
            <a:off x="5977463" y="1907873"/>
            <a:ext cx="6009224" cy="378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79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27015"/>
            <a:ext cx="5238750" cy="3004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74812"/>
            <a:ext cx="5238750" cy="34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571500" y="3810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Intégration Frontend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571500" y="161731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Le Contrôleur REST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71500" y="208404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 fichier SprintController.java expose nos services au monde extérieur.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866775" y="3969990"/>
            <a:ext cx="25503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Configuration CORS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866775" y="4770090"/>
            <a:ext cx="46482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Indispensable pour React. Sans cela, le navigateur bloquerait les appels API pour des raisons de sécurité (SOP - Same Origin Policy).</a:t>
            </a:r>
            <a:endParaRPr/>
          </a:p>
        </p:txBody>
      </p:sp>
      <p:pic>
        <p:nvPicPr>
          <p:cNvPr id="240" name="Google Shape;24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350865"/>
            <a:ext cx="381000" cy="38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9DB9CFC-F9A2-1734-66F6-E60B313B1342}"/>
              </a:ext>
            </a:extLst>
          </p:cNvPr>
          <p:cNvGrpSpPr>
            <a:grpSpLocks noChangeAspect="1"/>
          </p:cNvGrpSpPr>
          <p:nvPr/>
        </p:nvGrpSpPr>
        <p:grpSpPr>
          <a:xfrm>
            <a:off x="6381750" y="2520254"/>
            <a:ext cx="5521570" cy="3053358"/>
            <a:chOff x="2469931" y="2520254"/>
            <a:chExt cx="7430814" cy="4109146"/>
          </a:xfrm>
        </p:grpSpPr>
        <p:pic>
          <p:nvPicPr>
            <p:cNvPr id="2050" name="Picture 2" descr="cover">
              <a:extLst>
                <a:ext uri="{FF2B5EF4-FFF2-40B4-BE49-F238E27FC236}">
                  <a16:creationId xmlns:a16="http://schemas.microsoft.com/office/drawing/2014/main" id="{1FD4BF1B-8091-4BB4-7310-9524C047B9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58" t="35803" r="18793"/>
            <a:stretch>
              <a:fillRect/>
            </a:stretch>
          </p:blipFill>
          <p:spPr bwMode="auto">
            <a:xfrm>
              <a:off x="2469931" y="2520254"/>
              <a:ext cx="7430814" cy="41091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3BB618E-67F2-1D20-CE8B-F99B624EE2BF}"/>
                </a:ext>
              </a:extLst>
            </p:cNvPr>
            <p:cNvSpPr/>
            <p:nvPr/>
          </p:nvSpPr>
          <p:spPr>
            <a:xfrm>
              <a:off x="8061434" y="6152700"/>
              <a:ext cx="1450428" cy="2375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5040"/>
            <a:ext cx="342900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465040"/>
            <a:ext cx="342900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465040"/>
            <a:ext cx="342900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 txBox="1"/>
          <p:nvPr/>
        </p:nvSpPr>
        <p:spPr>
          <a:xfrm>
            <a:off x="295275" y="1255365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État du Module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4572000" y="5093940"/>
            <a:ext cx="3048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Prêt pour </a:t>
            </a:r>
            <a:r>
              <a:rPr lang="en-US" sz="1800" b="0" i="0" u="none" strike="noStrike" cap="none" dirty="0" err="1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l'intégration</a:t>
            </a:r>
            <a:r>
              <a:rPr lang="en-US" sz="1800" b="0" i="0" u="none" strike="noStrike" cap="none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React</a:t>
            </a:r>
            <a:endParaRPr dirty="0"/>
          </a:p>
        </p:txBody>
      </p:sp>
      <p:pic>
        <p:nvPicPr>
          <p:cNvPr id="251" name="Google Shape;25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37144" y="567413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1870948" y="3408015"/>
            <a:ext cx="83010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Stable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1228725" y="3874740"/>
            <a:ext cx="2114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Validé par tests unitaires.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5560933" y="3408015"/>
            <a:ext cx="10701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Sécurisé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5272087" y="3874740"/>
            <a:ext cx="1647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Validation Fail-Fast.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9175908" y="3408015"/>
            <a:ext cx="146018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AE6F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Documenté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9010650" y="3874740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Code clair &amp; Lombok.</a:t>
            </a:r>
            <a:endParaRPr/>
          </a:p>
        </p:txBody>
      </p:sp>
      <p:pic>
        <p:nvPicPr>
          <p:cNvPr id="258" name="Google Shape;258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95500" y="278889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05500" y="278889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763125" y="2788890"/>
            <a:ext cx="2857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4015739" y="2324100"/>
            <a:ext cx="4160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Questions ?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3895508" y="3429000"/>
            <a:ext cx="4400983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Merci de </a:t>
            </a:r>
            <a:r>
              <a:rPr lang="en-US" sz="24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votre</a:t>
            </a:r>
            <a:r>
              <a:rPr lang="en-US" sz="24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attention.</a:t>
            </a:r>
            <a:endParaRPr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704</Words>
  <Application>Microsoft Office PowerPoint</Application>
  <PresentationFormat>Widescreen</PresentationFormat>
  <Paragraphs>85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Calibri</vt:lpstr>
      <vt:lpstr>Urbanist Light</vt:lpstr>
      <vt:lpstr>Arial</vt:lpstr>
      <vt:lpstr>JetBrains Mono</vt:lpstr>
      <vt:lpstr>Urbanist</vt:lpstr>
      <vt:lpstr>Wingdings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bouanani abderrahman</cp:lastModifiedBy>
  <cp:revision>1</cp:revision>
  <dcterms:modified xsi:type="dcterms:W3CDTF">2026-01-23T23:19:19Z</dcterms:modified>
</cp:coreProperties>
</file>